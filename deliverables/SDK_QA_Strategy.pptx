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Opening: the deck follows the five assignment points. Everything marked Built exists in the repository and ran in GitHub Actions.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Scores are expert judgement because there is no incident history. Priority 1 re-scores them from real data. Full register: docs/risk-matrix.md.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Balance of fast feedback and E2E confidence: L0-L3 on every PR are seconds to minutes; L3b nightly; L5-L7 only on release candidates, where they cover risks nothing below can.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 scenarios.json, the two runners side by side, and the fake server. Each result was found by writing the scenario first and watching it fail. Key point: scenarios are data, not code, so neither platform owns the contract. That forces iOS/Android parity, lets app teams add expectations without Swift or Kotlin, and runs in milliseconds. Core scenarios are written by SDK QA; app teams own their folder; AI can draft, a human reviews the expected values.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PR #2 live: signature check green, behaviour check red on iOS only. Then PR #5 for the digester message, and PR #6: an intermittent test blocks the gate because L2b has no retries.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macos-26 is the newest hosted label; macOS minutes are costly, which is another reason for path filtering. Actions are on latest majors. iOS 26.2 UI job failed once and was not diagnosed; UI tests in hosted CI are out of scope (device farm or dedicated runners in practice).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Symptoms: Android green points at iOS code or toolchain; A+B only points at an interaction; intermittent points at non-determinism, but a flaky runner looks the same.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Order rationale: 1 gives the data that sizes 2 and 3; contracts are the cheapest, fastest signal, and the gates need something reliable to gate on. The order changes if the baseline shows a different top risk, for example a flaky pipeline blocking every release.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ricardorlg/sdk-qa-assignment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675120" y="-1097280"/>
            <a:ext cx="4206240" cy="4206240"/>
          </a:xfrm>
          <a:prstGeom prst="ellipse">
            <a:avLst/>
          </a:prstGeom>
          <a:solidFill>
            <a:srgbClr val="13A89E">
              <a:alpha val="20000"/>
            </a:srgbClr>
          </a:solidFill>
          <a:ln w="12700">
            <a:solidFill>
              <a:srgbClr val="13A89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498080" y="2926080"/>
            <a:ext cx="2926080" cy="2926080"/>
          </a:xfrm>
          <a:prstGeom prst="ellipse">
            <a:avLst/>
          </a:prstGeom>
          <a:solidFill>
            <a:srgbClr val="F2A541">
              <a:alpha val="18000"/>
            </a:srgbClr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10058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13A8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SENIOR MOBILE QA ENGINEER · PLATFORM / SDK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40080" y="1371600"/>
            <a:ext cx="69494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Quality engineering for a multi-module mobile SDK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640080" y="2880360"/>
            <a:ext cx="6400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Contracts first. Fast feedback on every pull request. Slow tests only where nothing cheaper can catch the risk.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40080" y="411480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Ricardo Larrahondo</a:t>
            </a:r>
            <a:endParaRPr lang="en-US" sz="1200" dirty="0"/>
          </a:p>
          <a:p>
            <a:pPr indent="0" marL="0">
              <a:buNone/>
            </a:pPr>
            <a:r>
              <a:rPr lang="en-US" sz="1200" u="sng" dirty="0">
                <a:solidFill>
                  <a:srgbClr val="13A89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Working code, demo PRs and CI: github.com/ricardorlg/sdk-qa-assignment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13A8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 · ASSUMPTIONS · RISK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41148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dummy auth SDK, so the strategy is demonstrated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8412480" y="480060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192024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D5DCE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097280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3A89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457200" y="169164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 platforms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Swift + Kotlin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2542032" y="1051560"/>
            <a:ext cx="192024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D5DCE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542032" y="1097280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3A89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</a:t>
            </a:r>
            <a:endParaRPr lang="en-US" sz="3600" dirty="0"/>
          </a:p>
        </p:txBody>
      </p:sp>
      <p:sp>
        <p:nvSpPr>
          <p:cNvPr id="10" name="Text 8"/>
          <p:cNvSpPr/>
          <p:nvPr/>
        </p:nvSpPr>
        <p:spPr>
          <a:xfrm>
            <a:off x="2542032" y="169164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scenarios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platform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626864" y="1051560"/>
            <a:ext cx="192024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D5DCE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626864" y="1097280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3A89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3600" dirty="0"/>
          </a:p>
        </p:txBody>
      </p:sp>
      <p:sp>
        <p:nvSpPr>
          <p:cNvPr id="13" name="Text 11"/>
          <p:cNvSpPr/>
          <p:nvPr/>
        </p:nvSpPr>
        <p:spPr>
          <a:xfrm>
            <a:off x="4626864" y="169164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pull requests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known outcomes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711696" y="1051560"/>
            <a:ext cx="192024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D5DCE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711696" y="1097280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3A89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</a:t>
            </a:r>
            <a:endParaRPr lang="en-US" sz="3600" dirty="0"/>
          </a:p>
        </p:txBody>
      </p:sp>
      <p:sp>
        <p:nvSpPr>
          <p:cNvPr id="16" name="Text 14"/>
          <p:cNvSpPr/>
          <p:nvPr/>
        </p:nvSpPr>
        <p:spPr>
          <a:xfrm>
            <a:off x="6711696" y="169164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risks scored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 × probability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457200" y="2286000"/>
            <a:ext cx="4023360" cy="2423160"/>
          </a:xfrm>
          <a:prstGeom prst="roundRect">
            <a:avLst>
              <a:gd name="adj" fmla="val 3019"/>
            </a:avLst>
          </a:prstGeom>
          <a:solidFill>
            <a:srgbClr val="FFFFFF"/>
          </a:solidFill>
          <a:ln w="9525">
            <a:solidFill>
              <a:srgbClr val="D5DCE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23591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Situation and approach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40080" y="2670048"/>
            <a:ext cx="370332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pains: cross-module breakage, iOS/Android drift, slow flaky E2E, unclear versions, late hard-to-attribute failures.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Dummy SDK: login, refresh, logout, session restore, plus a scripted fake auth server and a host app per platform.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auth: high risk, every module depends on it, and error semantics drift between platforms.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Biggest risks are change risks, so effort goes to contracts and compatibility, not more UI tests.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663440" y="2286000"/>
            <a:ext cx="4023360" cy="2423160"/>
          </a:xfrm>
          <a:prstGeom prst="roundRect">
            <a:avLst>
              <a:gd name="adj" fmla="val 3019"/>
            </a:avLst>
          </a:prstGeom>
          <a:solidFill>
            <a:srgbClr val="FFFFFF"/>
          </a:solidFill>
          <a:ln w="9525">
            <a:solidFill>
              <a:srgbClr val="D5DCE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846320" y="23591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Key assumptions and time budgets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846320" y="2670048"/>
            <a:ext cx="370332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Versioned modules (SemVer), about 3 apps pinning exact versions, native code on each platform.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Mostly UI/E2E automation today with no flake data; staging backend and device farm available.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 gate under 15 min (measured 1.5 to 3). Nightly UI under 60 min. RC validation under 2 h.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Left out on purpose: broad E2E, device farm, canary, performance, Pact broker.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13A8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TEST STRATEGY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41148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Test strategy: each layer answers one question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8412480" y="480060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804672" cy="868680"/>
          </a:xfrm>
          <a:prstGeom prst="roundRect">
            <a:avLst>
              <a:gd name="adj" fmla="val 6818"/>
            </a:avLst>
          </a:prstGeom>
          <a:solidFill>
            <a:srgbClr val="FFFFFF"/>
          </a:solidFill>
          <a:ln w="19050">
            <a:solidFill>
              <a:srgbClr val="2F6FD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088136"/>
            <a:ext cx="804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F6FD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L0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1371600"/>
            <a:ext cx="804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Static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1298448" y="1051560"/>
            <a:ext cx="804672" cy="868680"/>
          </a:xfrm>
          <a:prstGeom prst="roundRect">
            <a:avLst>
              <a:gd name="adj" fmla="val 6818"/>
            </a:avLst>
          </a:prstGeom>
          <a:solidFill>
            <a:srgbClr val="FFFFFF"/>
          </a:solidFill>
          <a:ln w="19050">
            <a:solidFill>
              <a:srgbClr val="2F6FD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298448" y="1088136"/>
            <a:ext cx="804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F6FD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L1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298448" y="1371600"/>
            <a:ext cx="804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2139696" y="1051560"/>
            <a:ext cx="804672" cy="868680"/>
          </a:xfrm>
          <a:prstGeom prst="roundRect">
            <a:avLst>
              <a:gd name="adj" fmla="val 6818"/>
            </a:avLst>
          </a:prstGeom>
          <a:solidFill>
            <a:srgbClr val="2F6FDE"/>
          </a:solidFill>
          <a:ln w="19050">
            <a:solidFill>
              <a:srgbClr val="2F6FD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139696" y="1088136"/>
            <a:ext cx="804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L2a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2139696" y="1371600"/>
            <a:ext cx="804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signature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2980944" y="1051560"/>
            <a:ext cx="804672" cy="868680"/>
          </a:xfrm>
          <a:prstGeom prst="roundRect">
            <a:avLst>
              <a:gd name="adj" fmla="val 6818"/>
            </a:avLst>
          </a:prstGeom>
          <a:solidFill>
            <a:srgbClr val="2F6FDE"/>
          </a:solidFill>
          <a:ln w="19050">
            <a:solidFill>
              <a:srgbClr val="2F6FD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980944" y="1088136"/>
            <a:ext cx="804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L2b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2980944" y="1371600"/>
            <a:ext cx="804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Behaviour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contracts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3822192" y="1051560"/>
            <a:ext cx="804672" cy="868680"/>
          </a:xfrm>
          <a:prstGeom prst="roundRect">
            <a:avLst>
              <a:gd name="adj" fmla="val 6818"/>
            </a:avLst>
          </a:prstGeom>
          <a:solidFill>
            <a:srgbClr val="FFFFFF"/>
          </a:solidFill>
          <a:ln w="19050">
            <a:solidFill>
              <a:srgbClr val="2F6FD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822192" y="1088136"/>
            <a:ext cx="804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F6FD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L3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3822192" y="1371600"/>
            <a:ext cx="804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pairs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4663440" y="1051560"/>
            <a:ext cx="804672" cy="868680"/>
          </a:xfrm>
          <a:prstGeom prst="roundRect">
            <a:avLst>
              <a:gd name="adj" fmla="val 6818"/>
            </a:avLst>
          </a:prstGeom>
          <a:solidFill>
            <a:srgbClr val="2E9E5B"/>
          </a:solidFill>
          <a:ln w="19050">
            <a:solidFill>
              <a:srgbClr val="2E9E5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1088136"/>
            <a:ext cx="804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L3b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663440" y="1371600"/>
            <a:ext cx="804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 UI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lifecycle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5504688" y="1051560"/>
            <a:ext cx="804672" cy="868680"/>
          </a:xfrm>
          <a:prstGeom prst="roundRect">
            <a:avLst>
              <a:gd name="adj" fmla="val 6818"/>
            </a:avLst>
          </a:prstGeom>
          <a:solidFill>
            <a:srgbClr val="FFFFFF"/>
          </a:solidFill>
          <a:ln w="19050">
            <a:solidFill>
              <a:srgbClr val="2E9E5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504688" y="1088136"/>
            <a:ext cx="804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E9E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L4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5504688" y="1371600"/>
            <a:ext cx="804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Harness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E2E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6345936" y="1051560"/>
            <a:ext cx="804672" cy="868680"/>
          </a:xfrm>
          <a:prstGeom prst="roundRect">
            <a:avLst>
              <a:gd name="adj" fmla="val 6818"/>
            </a:avLst>
          </a:prstGeom>
          <a:solidFill>
            <a:srgbClr val="FFFFFF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345936" y="1088136"/>
            <a:ext cx="804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L5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6345936" y="1371600"/>
            <a:ext cx="804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Consuming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apps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7187184" y="1051560"/>
            <a:ext cx="804672" cy="868680"/>
          </a:xfrm>
          <a:prstGeom prst="roundRect">
            <a:avLst>
              <a:gd name="adj" fmla="val 6818"/>
            </a:avLst>
          </a:prstGeom>
          <a:solidFill>
            <a:srgbClr val="FFFFFF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187184" y="1088136"/>
            <a:ext cx="804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L6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7187184" y="1371600"/>
            <a:ext cx="804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devices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8028432" y="1051560"/>
            <a:ext cx="804672" cy="868680"/>
          </a:xfrm>
          <a:prstGeom prst="roundRect">
            <a:avLst>
              <a:gd name="adj" fmla="val 6818"/>
            </a:avLst>
          </a:prstGeom>
          <a:solidFill>
            <a:srgbClr val="FFFFFF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028432" y="1088136"/>
            <a:ext cx="804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L7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8028432" y="1371600"/>
            <a:ext cx="804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+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explor.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457200" y="1984248"/>
            <a:ext cx="4169664" cy="36576"/>
          </a:xfrm>
          <a:prstGeom prst="rect">
            <a:avLst/>
          </a:prstGeom>
          <a:solidFill>
            <a:srgbClr val="2F6FDE"/>
          </a:solidFill>
          <a:ln w="12700">
            <a:solidFill>
              <a:srgbClr val="2F6FD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57200" y="2029968"/>
            <a:ext cx="41696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F6F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pull request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4663440" y="1984248"/>
            <a:ext cx="1645920" cy="36576"/>
          </a:xfrm>
          <a:prstGeom prst="rect">
            <a:avLst/>
          </a:prstGeom>
          <a:solidFill>
            <a:srgbClr val="2E9E5B"/>
          </a:solidFill>
          <a:ln w="12700">
            <a:solidFill>
              <a:srgbClr val="2E9E5B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663440" y="2029968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E9E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Nightly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6345936" y="1984248"/>
            <a:ext cx="2487168" cy="36576"/>
          </a:xfrm>
          <a:prstGeom prst="rect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345936" y="2029968"/>
            <a:ext cx="2487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 candidate</a:t>
            </a:r>
            <a:endParaRPr lang="en-US" sz="950" dirty="0"/>
          </a:p>
        </p:txBody>
      </p:sp>
      <p:sp>
        <p:nvSpPr>
          <p:cNvPr id="41" name="Text 39"/>
          <p:cNvSpPr/>
          <p:nvPr/>
        </p:nvSpPr>
        <p:spPr>
          <a:xfrm>
            <a:off x="457200" y="4800600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3A8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 </a:t>
            </a:r>
            <a:pPr indent="0" marL="0">
              <a:buNone/>
            </a:pPr>
            <a:r>
              <a:rPr lang="en-US" sz="90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filled = Built and ran in CI    </a:t>
            </a:r>
            <a:pPr indent="0" marL="0">
              <a:buNone/>
            </a:pPr>
            <a:r>
              <a:rPr lang="en-US" sz="90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 </a:t>
            </a:r>
            <a:pPr indent="0" marL="0">
              <a:buNone/>
            </a:pPr>
            <a:r>
              <a:rPr lang="en-US" sz="90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outlined = described, future work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57200" y="2377440"/>
            <a:ext cx="2697480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5DCE5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94360" y="2450592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Fast base: contracts</a:t>
            </a:r>
            <a:endParaRPr lang="en-US" sz="1300" dirty="0"/>
          </a:p>
        </p:txBody>
      </p:sp>
      <p:sp>
        <p:nvSpPr>
          <p:cNvPr id="44" name="Text 42"/>
          <p:cNvSpPr/>
          <p:nvPr/>
        </p:nvSpPr>
        <p:spPr>
          <a:xfrm>
            <a:off x="594360" y="2761488"/>
            <a:ext cx="242316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L2a: Android apiCheck, iOS swiftinterface + swift-api-digester.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L2b: one JSON of scenarios run by a Swift and a Kotlin runner. Apps add their own via CODEOWNERS.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 tools only; no Appium below L5.</a:t>
            </a:r>
            <a:endParaRPr lang="en-US" sz="1150" dirty="0"/>
          </a:p>
        </p:txBody>
      </p:sp>
      <p:sp>
        <p:nvSpPr>
          <p:cNvPr id="45" name="Shape 43"/>
          <p:cNvSpPr/>
          <p:nvPr/>
        </p:nvSpPr>
        <p:spPr>
          <a:xfrm>
            <a:off x="3273552" y="2377440"/>
            <a:ext cx="2697480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5DCE5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410712" y="2450592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Device and life cycle</a:t>
            </a:r>
            <a:endParaRPr lang="en-US" sz="1300" dirty="0"/>
          </a:p>
        </p:txBody>
      </p:sp>
      <p:sp>
        <p:nvSpPr>
          <p:cNvPr id="47" name="Text 45"/>
          <p:cNvSpPr/>
          <p:nvPr/>
        </p:nvSpPr>
        <p:spPr>
          <a:xfrm>
            <a:off x="3410712" y="2761488"/>
            <a:ext cx="242316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L3b: UI tests on the harness app + fake server: rotation, background, kill and relaunch, session restore.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L4: same harness app, real staging backend.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L5: canary and upgrade tests in real apps, smoke by Appium.</a:t>
            </a:r>
            <a:endParaRPr lang="en-US" sz="1150" dirty="0"/>
          </a:p>
        </p:txBody>
      </p:sp>
      <p:sp>
        <p:nvSpPr>
          <p:cNvPr id="48" name="Shape 46"/>
          <p:cNvSpPr/>
          <p:nvPr/>
        </p:nvSpPr>
        <p:spPr>
          <a:xfrm>
            <a:off x="6089904" y="2377440"/>
            <a:ext cx="2697480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5DCE5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227064" y="2450592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Humans and versions</a:t>
            </a:r>
            <a:endParaRPr lang="en-US" sz="1300" dirty="0"/>
          </a:p>
        </p:txBody>
      </p:sp>
      <p:sp>
        <p:nvSpPr>
          <p:cNvPr id="50" name="Text 48"/>
          <p:cNvSpPr/>
          <p:nvPr/>
        </p:nvSpPr>
        <p:spPr>
          <a:xfrm>
            <a:off x="6227064" y="2761488"/>
            <a:ext cx="242316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L6: OEM, low memory, battery on a device farm.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L7: charters on new capability and each RC.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compat.yaml expands into PR and RC matrices; contracts run vs N-1 and N-2.</a:t>
            </a:r>
            <a:endParaRPr lang="en-US" sz="11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13A8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AUTOMATION EXAMPLE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41148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Automation example: one contract, two native runners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8412480" y="480060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1024128"/>
            <a:ext cx="5120640" cy="493776"/>
          </a:xfrm>
          <a:prstGeom prst="roundRect">
            <a:avLst>
              <a:gd name="adj" fmla="val 14815"/>
            </a:avLst>
          </a:prstGeom>
          <a:solidFill>
            <a:srgbClr val="FFFFFF"/>
          </a:solidFill>
          <a:ln w="9525">
            <a:solidFill>
              <a:srgbClr val="D5DCE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106424"/>
            <a:ext cx="329184" cy="329184"/>
          </a:xfrm>
          <a:prstGeom prst="ellipse">
            <a:avLst/>
          </a:prstGeom>
          <a:solidFill>
            <a:srgbClr val="13A89E"/>
          </a:solidFill>
          <a:ln w="12700">
            <a:solidFill>
              <a:srgbClr val="13A89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110642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960120" y="1042416"/>
            <a:ext cx="4526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behaviour contracts  </a:t>
            </a:r>
            <a:pPr indent="0" marL="0">
              <a:buNone/>
            </a:pPr>
            <a:r>
              <a:rPr lang="en-US" sz="105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scenarios per platform (core JSON plus consumer-owned files), run against a scripted fake server. Includes single-flight concurrent refresh.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57200" y="1572768"/>
            <a:ext cx="5120640" cy="493776"/>
          </a:xfrm>
          <a:prstGeom prst="roundRect">
            <a:avLst>
              <a:gd name="adj" fmla="val 14815"/>
            </a:avLst>
          </a:prstGeom>
          <a:solidFill>
            <a:srgbClr val="FFFFFF"/>
          </a:solidFill>
          <a:ln w="9525">
            <a:solidFill>
              <a:srgbClr val="D5DCE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1655064"/>
            <a:ext cx="329184" cy="329184"/>
          </a:xfrm>
          <a:prstGeom prst="ellipse">
            <a:avLst/>
          </a:prstGeom>
          <a:solidFill>
            <a:srgbClr val="13A89E"/>
          </a:solidFill>
          <a:ln w="12700">
            <a:solidFill>
              <a:srgbClr val="13A89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48640" y="165506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D2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960120" y="1591056"/>
            <a:ext cx="4526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Consumer-driven contract  </a:t>
            </a:r>
            <a:pPr indent="0" marL="0">
              <a:buNone/>
            </a:pPr>
            <a:r>
              <a:rPr lang="en-US" sz="105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 owned by retail-app (token reuse). CODEOWNERS routes review to the app team.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57200" y="2121408"/>
            <a:ext cx="5120640" cy="493776"/>
          </a:xfrm>
          <a:prstGeom prst="roundRect">
            <a:avLst>
              <a:gd name="adj" fmla="val 14815"/>
            </a:avLst>
          </a:prstGeom>
          <a:solidFill>
            <a:srgbClr val="FFFFFF"/>
          </a:solidFill>
          <a:ln w="9525">
            <a:solidFill>
              <a:srgbClr val="D5DCE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" y="2203704"/>
            <a:ext cx="329184" cy="329184"/>
          </a:xfrm>
          <a:prstGeom prst="ellipse">
            <a:avLst/>
          </a:prstGeom>
          <a:solidFill>
            <a:srgbClr val="13A89E"/>
          </a:solidFill>
          <a:ln w="12700">
            <a:solidFill>
              <a:srgbClr val="13A89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48640" y="220370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D3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960120" y="2139696"/>
            <a:ext cx="4526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signature contract  </a:t>
            </a:r>
            <a:pPr indent="0" marL="0">
              <a:buNone/>
            </a:pPr>
            <a:r>
              <a:rPr lang="en-US" sz="105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apiCheck dump (Android) and swiftinterface + digester vs v1.0.0 (iOS). Diff posted to summary and PR.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457200" y="2670048"/>
            <a:ext cx="5120640" cy="493776"/>
          </a:xfrm>
          <a:prstGeom prst="roundRect">
            <a:avLst>
              <a:gd name="adj" fmla="val 14815"/>
            </a:avLst>
          </a:prstGeom>
          <a:solidFill>
            <a:srgbClr val="FFFFFF"/>
          </a:solidFill>
          <a:ln w="9525">
            <a:solidFill>
              <a:srgbClr val="D5DCE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48640" y="2752344"/>
            <a:ext cx="329184" cy="329184"/>
          </a:xfrm>
          <a:prstGeom prst="ellipse">
            <a:avLst/>
          </a:prstGeom>
          <a:solidFill>
            <a:srgbClr val="13A89E"/>
          </a:solidFill>
          <a:ln w="12700">
            <a:solidFill>
              <a:srgbClr val="13A89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48640" y="275234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D4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960120" y="2688336"/>
            <a:ext cx="4526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 UI and lifecycle  </a:t>
            </a:r>
            <a:pPr indent="0" marL="0">
              <a:buNone/>
            </a:pPr>
            <a:r>
              <a:rPr lang="en-US" sz="105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Espresso + 4 XCUITest tests. Both: sign-in and error. Android: recreation and simulated cold start. iOS: background, and terminate and relaunch (Keychain).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457200" y="3218688"/>
            <a:ext cx="5120640" cy="493776"/>
          </a:xfrm>
          <a:prstGeom prst="roundRect">
            <a:avLst>
              <a:gd name="adj" fmla="val 14815"/>
            </a:avLst>
          </a:prstGeom>
          <a:solidFill>
            <a:srgbClr val="FFFFFF"/>
          </a:solidFill>
          <a:ln w="9525">
            <a:solidFill>
              <a:srgbClr val="D5DCE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48640" y="3300984"/>
            <a:ext cx="329184" cy="329184"/>
          </a:xfrm>
          <a:prstGeom prst="ellipse">
            <a:avLst/>
          </a:prstGeom>
          <a:solidFill>
            <a:srgbClr val="13A89E"/>
          </a:solidFill>
          <a:ln w="12700">
            <a:solidFill>
              <a:srgbClr val="13A89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48640" y="330098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D5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960120" y="3236976"/>
            <a:ext cx="4526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Compatibility manifest  </a:t>
            </a:r>
            <a:pPr indent="0" marL="0">
              <a:buNone/>
            </a:pPr>
            <a:r>
              <a:rPr lang="en-US" sz="105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compat.yaml and gen_matrix.py produce the PR and RC matrices.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457200" y="3767328"/>
            <a:ext cx="5120640" cy="493776"/>
          </a:xfrm>
          <a:prstGeom prst="roundRect">
            <a:avLst>
              <a:gd name="adj" fmla="val 14815"/>
            </a:avLst>
          </a:prstGeom>
          <a:solidFill>
            <a:srgbClr val="FFFFFF"/>
          </a:solidFill>
          <a:ln w="9525">
            <a:solidFill>
              <a:srgbClr val="D5DCE5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48640" y="3849624"/>
            <a:ext cx="329184" cy="329184"/>
          </a:xfrm>
          <a:prstGeom prst="ellipse">
            <a:avLst/>
          </a:prstGeom>
          <a:solidFill>
            <a:srgbClr val="13A89E"/>
          </a:solidFill>
          <a:ln w="12700">
            <a:solidFill>
              <a:srgbClr val="13A89E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48640" y="384962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D6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960120" y="3785616"/>
            <a:ext cx="4526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Flaky handling  </a:t>
            </a:r>
            <a:pPr indent="0" marL="0">
              <a:buNone/>
            </a:pPr>
            <a:r>
              <a:rPr lang="en-US" sz="105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retries in L2b (intermittent = bug). L3b and above: retry once, flag FLAKY, never silently green.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5760720" y="1024128"/>
            <a:ext cx="2926080" cy="3236976"/>
          </a:xfrm>
          <a:prstGeom prst="roundRect">
            <a:avLst>
              <a:gd name="adj" fmla="val 2500"/>
            </a:avLst>
          </a:prstGeom>
          <a:solidFill>
            <a:srgbClr val="0B1F3A"/>
          </a:solidFill>
          <a:ln w="9525">
            <a:solidFill>
              <a:srgbClr val="D5DCE5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943600" y="109728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running it found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5943600" y="1417320"/>
            <a:ext cx="26060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E6ED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Concurrent refresh failed on both platforms (duplicate refreshes). Fixed with an in-flight task and a lock.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E6ED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Malformed body leaked a JSONException on Android only. Mapped to serverError.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E6ED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Injected iOS-only bug (503 as session expiry) caught by a scenario.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E6ED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Swapping Keychain for memory made the relaunch test fail, so it is sensitive.</a:t>
            </a:r>
            <a:endParaRPr lang="en-US" sz="1150" dirty="0"/>
          </a:p>
        </p:txBody>
      </p:sp>
      <p:sp>
        <p:nvSpPr>
          <p:cNvPr id="32" name="Text 30"/>
          <p:cNvSpPr/>
          <p:nvPr/>
        </p:nvSpPr>
        <p:spPr>
          <a:xfrm>
            <a:off x="457200" y="4370832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coded, described as future work: module pairs, harness E2E on staging, consumer canary, real devices.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13A8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QUICK FEEDBACK IN PRACTICE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41148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Six demo PRs: which layer catches what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8412480" y="480060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24128"/>
          <a:ext cx="8229600" cy="914400"/>
        </p:xfrm>
        <a:graphic>
          <a:graphicData uri="http://schemas.openxmlformats.org/drawingml/2006/table">
            <a:tbl>
              <a:tblPr/>
              <a:tblGrid>
                <a:gridCol w="457200"/>
                <a:gridCol w="822960"/>
                <a:gridCol w="2103120"/>
                <a:gridCol w="731520"/>
                <a:gridCol w="731520"/>
                <a:gridCol w="3383280"/>
              </a:tblGrid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Platform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Change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L2a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L2b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Android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public login renamed to signIn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E548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fails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E548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fails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Breaking API change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single-flight refresh removed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9E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passes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E548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fails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Signature intact; only behaviour tests see it. Android green, so iOS-only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 public hasSession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E548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fails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9E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passes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Additive: review, not breaking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Android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refresh lock removed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9E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passes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E548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fails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Same bug class as #2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init(service:) renamed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E548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fails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9E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passes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swift-api-digester vs v1.0.0: breaking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Android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test fails once, then passes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9E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passes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E548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fails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Intermittent test blocks: no retries in L2b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457200" y="3840480"/>
            <a:ext cx="40233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5DCE5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94360" y="3858768"/>
            <a:ext cx="37490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L2a and L2b are complementary. </a:t>
            </a:r>
            <a:pPr indent="0" marL="0">
              <a:buNone/>
            </a:pPr>
            <a:r>
              <a:rPr lang="en-US" sz="110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#2 and #4 are invisible to the signature check; #3 and #5 are invisible to behaviour tests.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4663440" y="3840480"/>
            <a:ext cx="40233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5DCE5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4800600" y="3858768"/>
            <a:ext cx="37490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Feedback in 1.5 to 3 minutes. </a:t>
            </a:r>
            <a:pPr indent="0" marL="0">
              <a:buNone/>
            </a:pPr>
            <a:r>
              <a:rPr lang="en-US" sz="110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Path-aware: only the platform that changed runs. Results appear as a JUnit check, a job summary and a sticky PR comment.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13A8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CI/CD AND RELEASE VALIDATION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41148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CI/CD: fast gates first, breadth later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8412480" y="480060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2F6F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PULL REQUEST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457200" y="2468880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2E9E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NIGHTLY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457200" y="3383280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 CANDIDATE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457200" y="1234440"/>
            <a:ext cx="1097280" cy="685800"/>
          </a:xfrm>
          <a:prstGeom prst="roundRect">
            <a:avLst>
              <a:gd name="adj" fmla="val 9333"/>
            </a:avLst>
          </a:prstGeom>
          <a:solidFill>
            <a:srgbClr val="0B1F3A"/>
          </a:solidFill>
          <a:ln w="15875">
            <a:solidFill>
              <a:srgbClr val="0B1F3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1234440"/>
            <a:ext cx="1097280" cy="68580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</a:t>
            </a:r>
            <a:endParaRPr lang="en-US" sz="10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run_all.sh locally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1828800" y="1234440"/>
            <a:ext cx="1188720" cy="685800"/>
          </a:xfrm>
          <a:prstGeom prst="roundRect">
            <a:avLst>
              <a:gd name="adj" fmla="val 9333"/>
            </a:avLst>
          </a:prstGeom>
          <a:solidFill>
            <a:srgbClr val="2F6FDE"/>
          </a:solidFill>
          <a:ln w="15875">
            <a:solidFill>
              <a:srgbClr val="2F6FD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828800" y="1234440"/>
            <a:ext cx="1188720" cy="68580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Pull request</a:t>
            </a:r>
            <a:endParaRPr lang="en-US" sz="10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 changed paths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337560" y="1024128"/>
            <a:ext cx="1737360" cy="457200"/>
          </a:xfrm>
          <a:prstGeom prst="roundRect">
            <a:avLst>
              <a:gd name="adj" fmla="val 14000"/>
            </a:avLst>
          </a:prstGeom>
          <a:solidFill>
            <a:srgbClr val="2F6FDE"/>
          </a:solidFill>
          <a:ln w="15875">
            <a:solidFill>
              <a:srgbClr val="2F6FD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337560" y="1024128"/>
            <a:ext cx="1737360" cy="45720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Android: apiCheck + L2b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3337560" y="1572768"/>
            <a:ext cx="1737360" cy="457200"/>
          </a:xfrm>
          <a:prstGeom prst="roundRect">
            <a:avLst>
              <a:gd name="adj" fmla="val 14000"/>
            </a:avLst>
          </a:prstGeom>
          <a:solidFill>
            <a:srgbClr val="2F6FDE"/>
          </a:solidFill>
          <a:ln w="15875">
            <a:solidFill>
              <a:srgbClr val="2F6FD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337560" y="1572768"/>
            <a:ext cx="1737360" cy="45720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iOS: digester + L2b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394960" y="1234440"/>
            <a:ext cx="1554480" cy="685800"/>
          </a:xfrm>
          <a:prstGeom prst="roundRect">
            <a:avLst>
              <a:gd name="adj" fmla="val 9333"/>
            </a:avLst>
          </a:prstGeom>
          <a:solidFill>
            <a:srgbClr val="2F6FDE"/>
          </a:solidFill>
          <a:ln w="15875">
            <a:solidFill>
              <a:srgbClr val="2F6FD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394960" y="1234440"/>
            <a:ext cx="1554480" cy="68580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Reports</a:t>
            </a:r>
            <a:endParaRPr lang="en-US" sz="10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JUnit check, API diff comment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7223760" y="1234440"/>
            <a:ext cx="1463040" cy="685800"/>
          </a:xfrm>
          <a:prstGeom prst="roundRect">
            <a:avLst>
              <a:gd name="adj" fmla="val 9333"/>
            </a:avLst>
          </a:prstGeom>
          <a:solidFill>
            <a:srgbClr val="0B1F3A"/>
          </a:solidFill>
          <a:ln w="15875">
            <a:solidFill>
              <a:srgbClr val="0B1F3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223760" y="1234440"/>
            <a:ext cx="1463040" cy="68580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Merge to main</a:t>
            </a:r>
            <a:endParaRPr lang="en-US" sz="10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owner-routed failures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1554480" y="1572768"/>
            <a:ext cx="274320" cy="0"/>
          </a:xfrm>
          <a:prstGeom prst="line">
            <a:avLst/>
          </a:prstGeom>
          <a:noFill/>
          <a:ln w="15875">
            <a:solidFill>
              <a:srgbClr val="5B6675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 flipV="1">
            <a:off x="3017520" y="1252728"/>
            <a:ext cx="320040" cy="164592"/>
          </a:xfrm>
          <a:prstGeom prst="line">
            <a:avLst/>
          </a:prstGeom>
          <a:noFill/>
          <a:ln w="15875">
            <a:solidFill>
              <a:srgbClr val="5B6675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3017520" y="1737360"/>
            <a:ext cx="320040" cy="64008"/>
          </a:xfrm>
          <a:prstGeom prst="line">
            <a:avLst/>
          </a:prstGeom>
          <a:noFill/>
          <a:ln w="15875">
            <a:solidFill>
              <a:srgbClr val="5B6675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5074920" y="1252728"/>
            <a:ext cx="320040" cy="256032"/>
          </a:xfrm>
          <a:prstGeom prst="line">
            <a:avLst/>
          </a:prstGeom>
          <a:noFill/>
          <a:ln w="15875">
            <a:solidFill>
              <a:srgbClr val="5B6675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 flipV="1">
            <a:off x="5074920" y="1645920"/>
            <a:ext cx="320040" cy="155448"/>
          </a:xfrm>
          <a:prstGeom prst="line">
            <a:avLst/>
          </a:prstGeom>
          <a:noFill/>
          <a:ln w="15875">
            <a:solidFill>
              <a:srgbClr val="5B6675"/>
            </a:solidFill>
            <a:prstDash val="solid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6949440" y="1572768"/>
            <a:ext cx="274320" cy="0"/>
          </a:xfrm>
          <a:prstGeom prst="line">
            <a:avLst/>
          </a:prstGeom>
          <a:noFill/>
          <a:ln w="15875">
            <a:solidFill>
              <a:srgbClr val="5B6675"/>
            </a:solidFill>
            <a:prstDash val="solid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3337560" y="2651760"/>
            <a:ext cx="2743200" cy="594360"/>
          </a:xfrm>
          <a:prstGeom prst="roundRect">
            <a:avLst>
              <a:gd name="adj" fmla="val 10769"/>
            </a:avLst>
          </a:prstGeom>
          <a:solidFill>
            <a:srgbClr val="2E9E5B"/>
          </a:solidFill>
          <a:ln w="15875">
            <a:solidFill>
              <a:srgbClr val="2E9E5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337560" y="2651760"/>
            <a:ext cx="2743200" cy="59436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 UI: Espresso + XCUITest</a:t>
            </a:r>
            <a:endParaRPr lang="en-US" sz="10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matrix from compat.yaml, flaky report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7955280" y="1920240"/>
            <a:ext cx="0" cy="320040"/>
          </a:xfrm>
          <a:prstGeom prst="line">
            <a:avLst/>
          </a:prstGeom>
          <a:noFill/>
          <a:ln w="15875">
            <a:solidFill>
              <a:srgbClr val="5B6675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flipH="1">
            <a:off x="4709160" y="2240280"/>
            <a:ext cx="3246120" cy="0"/>
          </a:xfrm>
          <a:prstGeom prst="line">
            <a:avLst/>
          </a:prstGeom>
          <a:noFill/>
          <a:ln w="15875">
            <a:solidFill>
              <a:srgbClr val="5B6675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709160" y="2240280"/>
            <a:ext cx="0" cy="411480"/>
          </a:xfrm>
          <a:prstGeom prst="line">
            <a:avLst/>
          </a:prstGeom>
          <a:noFill/>
          <a:ln w="15875">
            <a:solidFill>
              <a:srgbClr val="5B6675"/>
            </a:solidFill>
            <a:prstDash val="solid"/>
            <a:tailEnd type="triangle"/>
          </a:ln>
        </p:spPr>
      </p:sp>
      <p:sp>
        <p:nvSpPr>
          <p:cNvPr id="31" name="Text 29"/>
          <p:cNvSpPr/>
          <p:nvPr/>
        </p:nvSpPr>
        <p:spPr>
          <a:xfrm>
            <a:off x="6035040" y="2286000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Nightly cron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457200" y="3611880"/>
            <a:ext cx="1188720" cy="640080"/>
          </a:xfrm>
          <a:prstGeom prst="roundRect">
            <a:avLst>
              <a:gd name="adj" fmla="val 10000"/>
            </a:avLst>
          </a:prstGeom>
          <a:solidFill>
            <a:srgbClr val="F2A541"/>
          </a:solidFill>
          <a:ln w="15875">
            <a:solidFill>
              <a:srgbClr val="F2A541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57200" y="3611880"/>
            <a:ext cx="1188720" cy="64008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Tag rc-*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1920240" y="3611880"/>
            <a:ext cx="1645920" cy="640080"/>
          </a:xfrm>
          <a:prstGeom prst="roundRect">
            <a:avLst>
              <a:gd name="adj" fmla="val 10000"/>
            </a:avLst>
          </a:prstGeom>
          <a:solidFill>
            <a:srgbClr val="F2A541"/>
          </a:solidFill>
          <a:ln w="15875">
            <a:solidFill>
              <a:srgbClr val="F2A541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920240" y="3611880"/>
            <a:ext cx="1645920" cy="64008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 gate + native UI</a:t>
            </a:r>
            <a:endParaRPr lang="en-US" sz="10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matrix from compat.yaml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3840480" y="3611880"/>
            <a:ext cx="1737360" cy="6400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5B6675"/>
            </a:solidFill>
            <a:prstDash val="dash"/>
          </a:ln>
        </p:spPr>
      </p:sp>
      <p:sp>
        <p:nvSpPr>
          <p:cNvPr id="37" name="Text 35"/>
          <p:cNvSpPr/>
          <p:nvPr/>
        </p:nvSpPr>
        <p:spPr>
          <a:xfrm>
            <a:off x="3840480" y="3611880"/>
            <a:ext cx="1737360" cy="64008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Contracts vs N-1/N-2</a:t>
            </a:r>
            <a:endParaRPr lang="en-US" sz="10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consumer canary (stubs)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5852160" y="3611880"/>
            <a:ext cx="1188720" cy="640080"/>
          </a:xfrm>
          <a:prstGeom prst="roundRect">
            <a:avLst>
              <a:gd name="adj" fmla="val 10000"/>
            </a:avLst>
          </a:prstGeom>
          <a:solidFill>
            <a:srgbClr val="0B1F3A"/>
          </a:solidFill>
          <a:ln w="15875">
            <a:solidFill>
              <a:srgbClr val="0B1F3A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852160" y="3611880"/>
            <a:ext cx="1188720" cy="64008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 gates</a:t>
            </a:r>
            <a:endParaRPr lang="en-US" sz="1050" dirty="0"/>
          </a:p>
        </p:txBody>
      </p:sp>
      <p:sp>
        <p:nvSpPr>
          <p:cNvPr id="40" name="Shape 38"/>
          <p:cNvSpPr/>
          <p:nvPr/>
        </p:nvSpPr>
        <p:spPr>
          <a:xfrm>
            <a:off x="7315200" y="3611880"/>
            <a:ext cx="1371600" cy="640080"/>
          </a:xfrm>
          <a:prstGeom prst="roundRect">
            <a:avLst>
              <a:gd name="adj" fmla="val 10000"/>
            </a:avLst>
          </a:prstGeom>
          <a:solidFill>
            <a:srgbClr val="13A89E"/>
          </a:solidFill>
          <a:ln w="15875">
            <a:solidFill>
              <a:srgbClr val="13A89E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315200" y="3611880"/>
            <a:ext cx="1371600" cy="64008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 + changelog</a:t>
            </a:r>
            <a:endParaRPr lang="en-US" sz="1050" dirty="0"/>
          </a:p>
        </p:txBody>
      </p:sp>
      <p:sp>
        <p:nvSpPr>
          <p:cNvPr id="42" name="Shape 40"/>
          <p:cNvSpPr/>
          <p:nvPr/>
        </p:nvSpPr>
        <p:spPr>
          <a:xfrm>
            <a:off x="1645920" y="3931920"/>
            <a:ext cx="274320" cy="0"/>
          </a:xfrm>
          <a:prstGeom prst="line">
            <a:avLst/>
          </a:prstGeom>
          <a:noFill/>
          <a:ln w="15875">
            <a:solidFill>
              <a:srgbClr val="5B6675"/>
            </a:solidFill>
            <a:prstDash val="solid"/>
            <a:tailEnd type="triangle"/>
          </a:ln>
        </p:spPr>
      </p:sp>
      <p:sp>
        <p:nvSpPr>
          <p:cNvPr id="43" name="Shape 41"/>
          <p:cNvSpPr/>
          <p:nvPr/>
        </p:nvSpPr>
        <p:spPr>
          <a:xfrm>
            <a:off x="3566160" y="3931920"/>
            <a:ext cx="274320" cy="0"/>
          </a:xfrm>
          <a:prstGeom prst="line">
            <a:avLst/>
          </a:prstGeom>
          <a:noFill/>
          <a:ln w="15875">
            <a:solidFill>
              <a:srgbClr val="5B6675"/>
            </a:solidFill>
            <a:prstDash val="solid"/>
            <a:tailEnd type="triangle"/>
          </a:ln>
        </p:spPr>
      </p:sp>
      <p:sp>
        <p:nvSpPr>
          <p:cNvPr id="44" name="Shape 42"/>
          <p:cNvSpPr/>
          <p:nvPr/>
        </p:nvSpPr>
        <p:spPr>
          <a:xfrm>
            <a:off x="5577840" y="3931920"/>
            <a:ext cx="274320" cy="0"/>
          </a:xfrm>
          <a:prstGeom prst="line">
            <a:avLst/>
          </a:prstGeom>
          <a:noFill/>
          <a:ln w="15875">
            <a:solidFill>
              <a:srgbClr val="5B6675"/>
            </a:solidFill>
            <a:prstDash val="solid"/>
            <a:tailEnd type="triangle"/>
          </a:ln>
        </p:spPr>
      </p:sp>
      <p:sp>
        <p:nvSpPr>
          <p:cNvPr id="45" name="Shape 43"/>
          <p:cNvSpPr/>
          <p:nvPr/>
        </p:nvSpPr>
        <p:spPr>
          <a:xfrm>
            <a:off x="7040880" y="3931920"/>
            <a:ext cx="274320" cy="0"/>
          </a:xfrm>
          <a:prstGeom prst="line">
            <a:avLst/>
          </a:prstGeom>
          <a:noFill/>
          <a:ln w="15875">
            <a:solidFill>
              <a:srgbClr val="5B6675"/>
            </a:solidFill>
            <a:prstDash val="solid"/>
            <a:tailEnd type="triangle"/>
          </a:ln>
        </p:spPr>
      </p:sp>
      <p:sp>
        <p:nvSpPr>
          <p:cNvPr id="46" name="Text 44"/>
          <p:cNvSpPr/>
          <p:nvPr/>
        </p:nvSpPr>
        <p:spPr>
          <a:xfrm>
            <a:off x="457200" y="4370832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and ran on GitHub: three workflow files (pr.yml, ui-native.yml, release.yml). Dashed = stub. UI tests are not a PR gate: 6 to 16 min per job.</a:t>
            </a:r>
            <a:endParaRPr lang="en-US" sz="950" dirty="0"/>
          </a:p>
        </p:txBody>
      </p:sp>
      <p:sp>
        <p:nvSpPr>
          <p:cNvPr id="47" name="Text 45"/>
          <p:cNvSpPr/>
          <p:nvPr/>
        </p:nvSpPr>
        <p:spPr>
          <a:xfrm>
            <a:off x="457200" y="4617720"/>
            <a:ext cx="7863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Future: Slack alerts, device farm, flake dashboard, required checks.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13A8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INVESTIGATION SCENARIO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41148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Investigation: change one variable at a time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8412480" y="480060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9144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Modules A and B work alone but fail intermittently together after 3.4 to 3.5, on iOS only.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1280160" cy="15087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D5DCE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417320"/>
            <a:ext cx="310896" cy="310896"/>
          </a:xfrm>
          <a:prstGeom prst="ellipse">
            <a:avLst/>
          </a:prstGeom>
          <a:solidFill>
            <a:srgbClr val="13A89E"/>
          </a:solidFill>
          <a:ln w="12700">
            <a:solidFill>
              <a:srgbClr val="13A89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14173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914400" y="1417320"/>
            <a:ext cx="777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Contain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48640" y="1783080"/>
            <a:ext cx="111556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Freeze the release, one owner, one channel, record the facts.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1847088" y="1325880"/>
            <a:ext cx="1280160" cy="15087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D5DCE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938528" y="1417320"/>
            <a:ext cx="310896" cy="310896"/>
          </a:xfrm>
          <a:prstGeom prst="ellipse">
            <a:avLst/>
          </a:prstGeom>
          <a:solidFill>
            <a:srgbClr val="13A89E"/>
          </a:solidFill>
          <a:ln w="12700">
            <a:solidFill>
              <a:srgbClr val="13A89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938528" y="14173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304288" y="1417320"/>
            <a:ext cx="777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Collect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938528" y="1783080"/>
            <a:ext cx="111556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Logs, versions, resolved dependency graph, OS, runner, seeds, before any change.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3236976" y="1325880"/>
            <a:ext cx="1280160" cy="15087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D5DCE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328416" y="1417320"/>
            <a:ext cx="310896" cy="310896"/>
          </a:xfrm>
          <a:prstGeom prst="ellipse">
            <a:avLst/>
          </a:prstGeom>
          <a:solidFill>
            <a:srgbClr val="13A89E"/>
          </a:solidFill>
          <a:ln w="12700">
            <a:solidFill>
              <a:srgbClr val="13A89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328416" y="14173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3694176" y="1417320"/>
            <a:ext cx="777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Reproduce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3328416" y="1783080"/>
            <a:ext cx="111556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Loop the failure; shrink to a minimal A+B case; record the failure rate.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4626864" y="1325880"/>
            <a:ext cx="1280160" cy="15087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D5DCE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718304" y="1417320"/>
            <a:ext cx="310896" cy="310896"/>
          </a:xfrm>
          <a:prstGeom prst="ellipse">
            <a:avLst/>
          </a:prstGeom>
          <a:solidFill>
            <a:srgbClr val="13A89E"/>
          </a:solidFill>
          <a:ln w="12700">
            <a:solidFill>
              <a:srgbClr val="13A89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718304" y="14173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5084064" y="1417320"/>
            <a:ext cx="777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Isolate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718304" y="1783080"/>
            <a:ext cx="111556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Vary one input at a time: version, order, OS, runner, thread timing.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6016752" y="1325880"/>
            <a:ext cx="1280160" cy="15087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D5DCE5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108192" y="1417320"/>
            <a:ext cx="310896" cy="310896"/>
          </a:xfrm>
          <a:prstGeom prst="ellipse">
            <a:avLst/>
          </a:prstGeom>
          <a:solidFill>
            <a:srgbClr val="13A89E"/>
          </a:solidFill>
          <a:ln w="12700">
            <a:solidFill>
              <a:srgbClr val="13A89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108192" y="14173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6473952" y="1417320"/>
            <a:ext cx="777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Fix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6108192" y="1783080"/>
            <a:ext cx="111556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Fix, then prove the failure rate dropped to zero over many runs.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7406640" y="1325880"/>
            <a:ext cx="1280160" cy="15087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D5DCE5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498080" y="1417320"/>
            <a:ext cx="310896" cy="310896"/>
          </a:xfrm>
          <a:prstGeom prst="ellipse">
            <a:avLst/>
          </a:prstGeom>
          <a:solidFill>
            <a:srgbClr val="13A89E"/>
          </a:solidFill>
          <a:ln w="12700">
            <a:solidFill>
              <a:srgbClr val="13A89E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498080" y="14173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7863840" y="1417320"/>
            <a:ext cx="777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Prevent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7498080" y="1783080"/>
            <a:ext cx="111556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Contract scenario, matrix entry, alert, post-mortem.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457200" y="3017520"/>
            <a:ext cx="192024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9525">
            <a:solidFill>
              <a:srgbClr val="D5DCE5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3108960"/>
            <a:ext cx="109728" cy="109728"/>
          </a:xfrm>
          <a:prstGeom prst="rect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49808" y="3072384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Product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566928" y="3337560"/>
            <a:ext cx="17190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Fails without a platform or toolchain change; bisect 3.4 vs 3.5; stress A+B with thread sanitizer.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2542032" y="3017520"/>
            <a:ext cx="192024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9525">
            <a:solidFill>
              <a:srgbClr val="D5DCE5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2651760" y="3108960"/>
            <a:ext cx="109728" cy="109728"/>
          </a:xfrm>
          <a:prstGeom prst="rect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834640" y="3072384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Dependency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2651760" y="3337560"/>
            <a:ext cx="17190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resolved transitive versions between a failing and a passing build.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4626864" y="3017520"/>
            <a:ext cx="192024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9525">
            <a:solidFill>
              <a:srgbClr val="D5DCE5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4736592" y="3108960"/>
            <a:ext cx="109728" cy="109728"/>
          </a:xfrm>
          <a:prstGeom prst="rect">
            <a:avLst/>
          </a:prstGeom>
          <a:solidFill>
            <a:srgbClr val="2F6FDE"/>
          </a:solidFill>
          <a:ln w="12700">
            <a:solidFill>
              <a:srgbClr val="2F6FDE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919472" y="3072384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Test</a:t>
            </a:r>
            <a:endParaRPr lang="en-US" sz="1200" dirty="0"/>
          </a:p>
        </p:txBody>
      </p:sp>
      <p:sp>
        <p:nvSpPr>
          <p:cNvPr id="47" name="Text 45"/>
          <p:cNvSpPr/>
          <p:nvPr/>
        </p:nvSpPr>
        <p:spPr>
          <a:xfrm>
            <a:off x="4736592" y="3337560"/>
            <a:ext cx="17190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order and repeated runs; check shared state, clocks and fixtures.</a:t>
            </a:r>
            <a:endParaRPr lang="en-US" sz="950" dirty="0"/>
          </a:p>
        </p:txBody>
      </p:sp>
      <p:sp>
        <p:nvSpPr>
          <p:cNvPr id="48" name="Shape 46"/>
          <p:cNvSpPr/>
          <p:nvPr/>
        </p:nvSpPr>
        <p:spPr>
          <a:xfrm>
            <a:off x="6711696" y="3017520"/>
            <a:ext cx="192024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9525">
            <a:solidFill>
              <a:srgbClr val="D5DCE5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6821424" y="3108960"/>
            <a:ext cx="109728" cy="109728"/>
          </a:xfrm>
          <a:prstGeom prst="rect">
            <a:avLst/>
          </a:prstGeom>
          <a:solidFill>
            <a:srgbClr val="2E9E5B"/>
          </a:solidFill>
          <a:ln w="12700">
            <a:solidFill>
              <a:srgbClr val="2E9E5B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7004304" y="3072384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Environment</a:t>
            </a:r>
            <a:endParaRPr lang="en-US" sz="1200" dirty="0"/>
          </a:p>
        </p:txBody>
      </p:sp>
      <p:sp>
        <p:nvSpPr>
          <p:cNvPr id="51" name="Text 49"/>
          <p:cNvSpPr/>
          <p:nvPr/>
        </p:nvSpPr>
        <p:spPr>
          <a:xfrm>
            <a:off x="6821424" y="3337560"/>
            <a:ext cx="17190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commit on another runner, Xcode and simulator; check load and resources.</a:t>
            </a:r>
            <a:endParaRPr lang="en-US" sz="950" dirty="0"/>
          </a:p>
        </p:txBody>
      </p:sp>
      <p:sp>
        <p:nvSpPr>
          <p:cNvPr id="52" name="Text 50"/>
          <p:cNvSpPr/>
          <p:nvPr/>
        </p:nvSpPr>
        <p:spPr>
          <a:xfrm>
            <a:off x="457200" y="43891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bet: concurrency or init order. The plan does not depend on it: each cause is confirmed or ruled out with data.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13A8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· INITIAL PRIORITIES · TRADE-OFFS · AI USAGE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41148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First three priorities, after 30 days of listening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8412480" y="480060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0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1097280"/>
            <a:ext cx="2697480" cy="1737360"/>
          </a:xfrm>
          <a:prstGeom prst="roundRect">
            <a:avLst>
              <a:gd name="adj" fmla="val 4211"/>
            </a:avLst>
          </a:prstGeom>
          <a:solidFill>
            <a:srgbClr val="13315A"/>
          </a:solidFill>
          <a:ln w="9525">
            <a:solidFill>
              <a:srgbClr val="24497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94360" y="1170432"/>
            <a:ext cx="457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1051560" y="118872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Baseline and visibility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94360" y="1755648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Inventory, flake rate, duration, owners. Re-scores the risks.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594360" y="2331720"/>
            <a:ext cx="2423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3A8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2: dashboard and top 10 flaky tests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273552" y="1097280"/>
            <a:ext cx="2697480" cy="1737360"/>
          </a:xfrm>
          <a:prstGeom prst="roundRect">
            <a:avLst>
              <a:gd name="adj" fmla="val 4211"/>
            </a:avLst>
          </a:prstGeom>
          <a:solidFill>
            <a:srgbClr val="13315A"/>
          </a:solidFill>
          <a:ln w="9525">
            <a:solidFill>
              <a:srgbClr val="24497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410712" y="1170432"/>
            <a:ext cx="457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3867912" y="118872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Shared contract layer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410712" y="1755648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 scenarios on both platforms in PR CI.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3410712" y="2331720"/>
            <a:ext cx="2423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3A8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4: parity gaps triaged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089904" y="1097280"/>
            <a:ext cx="2697480" cy="1737360"/>
          </a:xfrm>
          <a:prstGeom prst="roundRect">
            <a:avLst>
              <a:gd name="adj" fmla="val 4211"/>
            </a:avLst>
          </a:prstGeom>
          <a:solidFill>
            <a:srgbClr val="13315A"/>
          </a:solidFill>
          <a:ln w="9525">
            <a:solidFill>
              <a:srgbClr val="24497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227064" y="1170432"/>
            <a:ext cx="457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6684264" y="118872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Compatibility manifest and gates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227064" y="1755648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compat.yaml, generated RC matrix, one canary.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6227064" y="2331720"/>
            <a:ext cx="2423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3A8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6: first blocking gate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57200" y="301752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3A89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Postponed on purpose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57200" y="3337560"/>
            <a:ext cx="26974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E6ED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Broad E2E expansion</a:t>
            </a:r>
            <a:endParaRPr lang="en-US" sz="10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E6ED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device-farm coverage</a:t>
            </a:r>
            <a:endParaRPr lang="en-US" sz="10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E6ED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 and security suites</a:t>
            </a:r>
            <a:endParaRPr lang="en-US" sz="10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E6ED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framework, Pact broker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3273552" y="301752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3A89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Next, with more time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3273552" y="3337560"/>
            <a:ext cx="26974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E6ED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Logic out of views, injected clock and storage</a:t>
            </a:r>
            <a:endParaRPr lang="en-US" sz="10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E6ED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Android: Robolectric, ViewModel tests, screenshot tests</a:t>
            </a:r>
            <a:endParaRPr lang="en-US" sz="10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E6ED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iOS: ViewModel tests, snapshot tests, XCUITest page objects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6089904" y="301752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3A89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Trade-offs and AI usage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089904" y="3337560"/>
            <a:ext cx="26974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E6ED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 tests over cross-platform for fidelity, at the cost of two codebases</a:t>
            </a:r>
            <a:endParaRPr lang="en-US" sz="10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E6ED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AI-assisted build; every output run, and every new test proven by failing first</a:t>
            </a:r>
            <a:endParaRPr lang="en-US" sz="10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E6ED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library: docs/PROMPT_LIBRARY.md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457200" y="443484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that change these priorities (document §5.1): </a:t>
            </a:r>
            <a:pPr indent="0" marL="0">
              <a:buNone/>
            </a:pPr>
            <a:r>
              <a:rPr lang="en-US" sz="1000" dirty="0">
                <a:solidFill>
                  <a:srgbClr val="E6ED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code between platforms? does the SDK ship UI? what was the last escaped defect?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Mobile SDK Quality Engineering</dc:title>
  <dc:subject>PptxGenJS Presentation</dc:subject>
  <dc:creator>PptxGenJS</dc:creator>
  <cp:lastModifiedBy>PptxGenJS</cp:lastModifiedBy>
  <cp:revision>1</cp:revision>
  <dcterms:created xsi:type="dcterms:W3CDTF">2026-10-29T02:16:00Z</dcterms:created>
  <dcterms:modified xsi:type="dcterms:W3CDTF">2026-10-29T02:16:00Z</dcterms:modified>
</cp:coreProperties>
</file>